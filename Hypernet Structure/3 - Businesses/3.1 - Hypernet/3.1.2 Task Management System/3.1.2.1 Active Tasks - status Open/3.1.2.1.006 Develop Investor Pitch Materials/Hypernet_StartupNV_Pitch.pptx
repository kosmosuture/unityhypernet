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006E"/>
                </a:solidFill>
              </a:defRPr>
            </a:pPr>
            <a:r>
              <a:t>HYPERNET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The Singularity: Unified Infrastructure Eliminating</a:t>
            </a:r>
          </a:p>
          <a:p>
            <a:r>
              <a:t>90% of Global Data 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Matt Schaeffer, Founder &amp; CEO</a:t>
            </a:r>
          </a:p>
          <a:p>
            <a:pPr algn="ctr">
              <a:defRPr sz="2400">
                <a:solidFill>
                  <a:srgbClr val="CCCCCC"/>
                </a:solidFill>
              </a:defRPr>
            </a:pPr>
            <a:r>
              <a:t>Las Vegas, Nevada</a:t>
            </a:r>
          </a:p>
          <a:p>
            <a:pPr algn="ctr">
              <a:defRPr sz="2000">
                <a:solidFill>
                  <a:srgbClr val="FF006E"/>
                </a:solidFill>
              </a:defRPr>
            </a:pPr>
          </a:p>
          <a:p>
            <a:pPr algn="ctr">
              <a:defRPr sz="2000">
                <a:solidFill>
                  <a:srgbClr val="FF006E"/>
                </a:solidFill>
              </a:defRPr>
            </a:pPr>
            <a:r>
              <a:t>matt@hypernet.com | (702) XXX-XXXX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006E"/>
                </a:solidFill>
              </a:defRPr>
            </a:pPr>
            <a:r>
              <a:t>Global Data Chaos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Problem Point 1: Massive Duplication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90% of global data is duplicated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Trillions spent on redundant storage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Problem Point 2: Fragmentation Prevents Progress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27 apps per person daily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No single source of truth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Can't build The Singularity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Problem Point 3: Trust Destroyed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Centralized platforms exploit users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Data privacy constantly violated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• Fake news spreads uncontrollably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006E"/>
                </a:solidFill>
              </a:defRPr>
            </a:pPr>
            <a:r>
              <a:t>Three Components. Infinite Unity.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B00FF"/>
                </a:solidFill>
              </a:defRPr>
            </a:pPr>
            <a:r>
              <a:t>Solution Point 1:</a:t>
            </a:r>
          </a:p>
          <a:p>
            <a:pPr>
              <a:defRPr sz="1800">
                <a:solidFill>
                  <a:srgbClr val="8B00FF"/>
                </a:solidFill>
              </a:defRPr>
            </a:pPr>
            <a:r>
              <a:t>The Library</a:t>
            </a:r>
          </a:p>
          <a:p>
            <a:pPr>
              <a:defRPr sz="1600">
                <a:solidFill>
                  <a:srgbClr val="CCCCCC"/>
                </a:solidFill>
              </a:defRPr>
            </a:pP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Universal addressing—every piece of data has ONE permanent location</a:t>
            </a:r>
          </a:p>
          <a:p>
            <a:pPr>
              <a:defRPr sz="1600">
                <a:solidFill>
                  <a:srgbClr val="CCCCCC"/>
                </a:solidFill>
              </a:defRPr>
            </a:pP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→ Eliminates 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137160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B00FF"/>
                </a:solidFill>
              </a:defRPr>
            </a:pPr>
            <a:r>
              <a:t>Solution Point 2:</a:t>
            </a:r>
          </a:p>
          <a:p>
            <a:pPr>
              <a:defRPr sz="1800">
                <a:solidFill>
                  <a:srgbClr val="8B00FF"/>
                </a:solidFill>
              </a:defRPr>
            </a:pPr>
            <a:r>
              <a:t>Objects</a:t>
            </a:r>
          </a:p>
          <a:p>
            <a:pPr>
              <a:defRPr sz="1600">
                <a:solidFill>
                  <a:srgbClr val="CCCCCC"/>
                </a:solidFill>
              </a:defRPr>
            </a:pP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Standardized containers for everything—people, devices, knowledge, media</a:t>
            </a:r>
          </a:p>
          <a:p>
            <a:pPr>
              <a:defRPr sz="1600">
                <a:solidFill>
                  <a:srgbClr val="CCCCCC"/>
                </a:solidFill>
              </a:defRPr>
            </a:pP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→ Enables interoperability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B00FF"/>
                </a:solidFill>
              </a:defRPr>
            </a:pPr>
            <a:r>
              <a:t>Solution Point 3:</a:t>
            </a:r>
          </a:p>
          <a:p>
            <a:pPr>
              <a:defRPr sz="1800">
                <a:solidFill>
                  <a:srgbClr val="8B00FF"/>
                </a:solidFill>
              </a:defRPr>
            </a:pPr>
            <a:r>
              <a:t>Links</a:t>
            </a:r>
          </a:p>
          <a:p>
            <a:pPr>
              <a:defRPr sz="1600">
                <a:solidFill>
                  <a:srgbClr val="CCCCCC"/>
                </a:solidFill>
              </a:defRPr>
            </a:pP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Relationships that create emergent intelligence</a:t>
            </a:r>
          </a:p>
          <a:p>
            <a:pPr>
              <a:defRPr sz="1600">
                <a:solidFill>
                  <a:srgbClr val="CCCCCC"/>
                </a:solidFill>
              </a:defRPr>
            </a:pPr>
          </a:p>
          <a:p>
            <a:pPr>
              <a:defRPr sz="1600">
                <a:solidFill>
                  <a:srgbClr val="CCCCCC"/>
                </a:solidFill>
              </a:defRPr>
            </a:pPr>
            <a:r>
              <a:t>→ The Singularity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006E"/>
                </a:solidFill>
              </a:defRPr>
            </a:pPr>
            <a:r>
              <a:t>Same data, reused infinitely through different connections = Zero duplication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006E"/>
                </a:solidFill>
              </a:defRPr>
            </a:pPr>
            <a:r>
              <a:t>Experience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Personal Value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Organize entire digital life once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Walk through memories in VR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Control your own data completely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137160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Collaboration Tools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Real-time global knowledge sharing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Supply chain transparency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Democratic truth-finding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37160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VR-Native Infrastructure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Every object exists in 3D space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Navigate relationships spatially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First spatial computing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CCCCCC"/>
                </a:solidFill>
              </a:defRPr>
            </a:pPr>
            <a:r>
              <a:t>"Imagine walking through all human knowledge as an explorable 3D world.</a:t>
            </a:r>
          </a:p>
          <a:p>
            <a:r>
              <a:t>That's The Singularity."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006E"/>
                </a:solidFill>
              </a:defRPr>
            </a:pPr>
            <a:r>
              <a:t>Infrastructure for All Human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6B35"/>
                </a:solidFill>
              </a:defRPr>
            </a:pPr>
            <a:r>
              <a:t>TAM (Total Addressable Market): $15 Trillion</a:t>
            </a:r>
          </a:p>
          <a:p>
            <a:pPr>
              <a:spcAft>
                <a:spcPts val="2000"/>
              </a:spcAft>
              <a:defRPr sz="2000" b="0">
                <a:solidFill>
                  <a:srgbClr val="CCCCCC"/>
                </a:solidFill>
              </a:defRPr>
            </a:pPr>
            <a:r>
              <a:t>Global digital infrastructure market</a:t>
            </a:r>
          </a:p>
          <a:p>
            <a:pPr>
              <a:spcAft>
                <a:spcPts val="2000"/>
              </a:spcAft>
              <a:defRPr sz="2800" b="1">
                <a:solidFill>
                  <a:srgbClr val="FF6B35"/>
                </a:solidFill>
              </a:defRPr>
            </a:pPr>
          </a:p>
          <a:p>
            <a:pPr>
              <a:spcAft>
                <a:spcPts val="2000"/>
              </a:spcAft>
              <a:defRPr sz="2000" b="0">
                <a:solidFill>
                  <a:srgbClr val="CCCCCC"/>
                </a:solidFill>
              </a:defRPr>
            </a:pPr>
            <a:r>
              <a:t>SAM (Serviceable Addressable Market): $3.2 Trillion</a:t>
            </a:r>
          </a:p>
          <a:p>
            <a:pPr>
              <a:spcAft>
                <a:spcPts val="2000"/>
              </a:spcAft>
              <a:defRPr sz="2800" b="1">
                <a:solidFill>
                  <a:srgbClr val="FF6B35"/>
                </a:solidFill>
              </a:defRPr>
            </a:pPr>
            <a:r>
              <a:t>Unified data infrastructure</a:t>
            </a:r>
          </a:p>
          <a:p>
            <a:pPr>
              <a:spcAft>
                <a:spcPts val="2000"/>
              </a:spcAft>
              <a:defRPr sz="2000" b="0">
                <a:solidFill>
                  <a:srgbClr val="CCCCCC"/>
                </a:solidFill>
              </a:defRPr>
            </a:pPr>
          </a:p>
          <a:p>
            <a:pPr>
              <a:spcAft>
                <a:spcPts val="2000"/>
              </a:spcAft>
              <a:defRPr sz="2800" b="1">
                <a:solidFill>
                  <a:srgbClr val="FF6B35"/>
                </a:solidFill>
              </a:defRPr>
            </a:pPr>
            <a:r>
              <a:t>SOM (Serviceable Obtainable Market): $180 Billion in 5 years</a:t>
            </a:r>
          </a:p>
          <a:p>
            <a:pPr>
              <a:spcAft>
                <a:spcPts val="2000"/>
              </a:spcAft>
              <a:defRPr sz="2000" b="0">
                <a:solidFill>
                  <a:srgbClr val="CCCCCC"/>
                </a:solidFill>
              </a:defRPr>
            </a:pPr>
            <a:r>
              <a:t>Early adopters, VR users, enterprise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006E"/>
                </a:solidFill>
              </a:defRPr>
            </a:pPr>
            <a:r>
              <a:t>When you're infrastructure for civilization, the market is civilization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</a:defRPr>
            </a:pPr>
            <a:r>
              <a:t>*Sources: IDC Digital Infrastructure Report 2024, Gartner Cloud Services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006E"/>
                </a:solidFill>
              </a:defRPr>
            </a:pPr>
            <a:r>
              <a:t>They Can't Build What We're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CCCCC"/>
                </a:solidFill>
                <a:latin typeface="Courier New"/>
              </a:defRPr>
            </a:pPr>
            <a:r>
              <a:t>                    Hypernet  Google  Meta  Microsoft  Amazon</a:t>
            </a:r>
          </a:p>
          <a:p>
            <a:pPr>
              <a:defRPr sz="2000">
                <a:solidFill>
                  <a:srgbClr val="CCCCCC"/>
                </a:solidFill>
                <a:latin typeface="Courier New"/>
              </a:defRPr>
            </a:pPr>
            <a:r>
              <a:t>Zero Duplication       ✓         ✗      ✗       ✗         ✗</a:t>
            </a:r>
          </a:p>
          <a:p>
            <a:pPr>
              <a:defRPr sz="2000">
                <a:solidFill>
                  <a:srgbClr val="CCCCCC"/>
                </a:solidFill>
                <a:latin typeface="Courier New"/>
              </a:defRPr>
            </a:pPr>
            <a:r>
              <a:t>User-Controlled Data   ✓         ✗      ✗       △         ✗</a:t>
            </a:r>
          </a:p>
          <a:p>
            <a:pPr>
              <a:defRPr sz="2000">
                <a:solidFill>
                  <a:srgbClr val="CCCCCC"/>
                </a:solidFill>
                <a:latin typeface="Courier New"/>
              </a:defRPr>
            </a:pPr>
            <a:r>
              <a:t>VR-Native             ✓         △      △       △         ✗</a:t>
            </a:r>
          </a:p>
          <a:p>
            <a:pPr>
              <a:defRPr sz="2000">
                <a:solidFill>
                  <a:srgbClr val="CCCCCC"/>
                </a:solidFill>
                <a:latin typeface="Courier New"/>
              </a:defRPr>
            </a:pPr>
            <a:r>
              <a:t>Open Source           ✓         ✗      ✗       △         ✗</a:t>
            </a:r>
          </a:p>
          <a:p>
            <a:pPr>
              <a:defRPr sz="2000">
                <a:solidFill>
                  <a:srgbClr val="CCCCCC"/>
                </a:solidFill>
                <a:latin typeface="Courier New"/>
              </a:defRPr>
            </a:pPr>
            <a:r>
              <a:t>Democratic Governance  ✓         ✗      ✗       ✗         ✗</a:t>
            </a:r>
          </a:p>
          <a:p>
            <a:pPr>
              <a:defRPr sz="2000">
                <a:solidFill>
                  <a:srgbClr val="CCCCCC"/>
                </a:solidFill>
                <a:latin typeface="Courier New"/>
              </a:defRPr>
            </a:pPr>
            <a:r>
              <a:t>Trusted               ✓         ✗      ✗       △         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006E"/>
                </a:solidFill>
              </a:defRPr>
            </a:pPr>
            <a:r>
              <a:t>They become partners, not competitors—we make their infrastructure more valuable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006E"/>
                </a:solidFill>
              </a:defRPr>
            </a:pPr>
            <a:r>
              <a:t>The 1%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Revenue Model: 1% microtransaction on all platform activity</a:t>
            </a:r>
          </a:p>
          <a:p>
            <a:pPr>
              <a:spcAft>
                <a:spcPts val="1200"/>
              </a:spcAft>
              <a:defRPr sz="2400">
                <a:solidFill>
                  <a:srgbClr val="CCCCCC"/>
                </a:solidFill>
              </a:defRPr>
            </a:pPr>
            <a:r>
              <a:t>(vs. credit cards' 3%)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Every developer integration: 1%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Every transaction: 1%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Plus: Premium services, enterprise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Profit Distribution (after operating costs):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  <a:r>
              <a:t>33% → Traditional Investment Returns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  <a:r>
              <a:t>33% → Contributors &amp; Workers  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  <a:r>
              <a:t>33% → Unity Foundation (Ending Poverty)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006E"/>
                </a:solidFill>
              </a:defRPr>
            </a:pPr>
            <a:r>
              <a:t>Aligned with humanity, not extracting from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006E"/>
                </a:solidFill>
              </a:defRPr>
            </a:pPr>
            <a:r>
              <a:t>Gradual Adoption, Then Network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474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Phase 1</a:t>
            </a:r>
          </a:p>
          <a:p>
            <a:pPr>
              <a:defRPr sz="2000">
                <a:solidFill>
                  <a:srgbClr val="8B00FF"/>
                </a:solidFill>
              </a:defRPr>
            </a:pPr>
            <a:r>
              <a:t>Months 1-18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Kickstarter campaign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Direct sales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VR communities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→ 10,000 pioneers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1371600"/>
            <a:ext cx="3474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Phase 2</a:t>
            </a:r>
          </a:p>
          <a:p>
            <a:pPr>
              <a:defRPr sz="2000">
                <a:solidFill>
                  <a:srgbClr val="8B00FF"/>
                </a:solidFill>
              </a:defRPr>
            </a:pPr>
            <a:r>
              <a:t>Months 18-36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Cloud partnerships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Industry conferences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Developer ecosystem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→ 1M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371600"/>
            <a:ext cx="3474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Phase 3</a:t>
            </a:r>
          </a:p>
          <a:p>
            <a:pPr>
              <a:defRPr sz="2000">
                <a:solidFill>
                  <a:srgbClr val="8B00FF"/>
                </a:solidFill>
              </a:defRPr>
            </a:pPr>
            <a:r>
              <a:t>Years 3-5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Global dev ecosystem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Network effects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Enterprise adoption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→ 100M+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006E"/>
                </a:solidFill>
              </a:defRPr>
            </a:pPr>
            <a:r>
              <a:t>From Vision to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2600" b="1">
                <a:solidFill>
                  <a:srgbClr val="FF6B35"/>
                </a:solidFill>
              </a:defRPr>
            </a:pPr>
            <a:r>
              <a:t>Completed: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✓ Core architecture framework designed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✓ Technical specifications documented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✓ Trust &amp; governance model developed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✓ Business model validated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Bef>
                <a:spcPts val="1200"/>
              </a:spcBef>
              <a:defRPr sz="2600" b="1">
                <a:solidFill>
                  <a:srgbClr val="FF6B35"/>
                </a:solidFill>
              </a:defRPr>
            </a:pPr>
            <a:r>
              <a:t>Current Stage: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• Assembling founding team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• Securing seed funding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• Preparing Kickstarter launch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Bef>
                <a:spcPts val="1200"/>
              </a:spcBef>
              <a:defRPr sz="2600" b="1">
                <a:solidFill>
                  <a:srgbClr val="FF6B35"/>
                </a:solidFill>
              </a:defRPr>
            </a:pPr>
            <a:r>
              <a:t>18-Month Projections (Post-Funding):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• 10,000 early adopters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• $2M ARR from premium tiers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• 50+ developers building on platform</a:t>
            </a:r>
          </a:p>
          <a:p>
            <a:pPr>
              <a:spcAft>
                <a:spcPts val="400"/>
              </a:spcAft>
              <a:defRPr sz="2000">
                <a:solidFill>
                  <a:srgbClr val="CCCCCC"/>
                </a:solidFill>
              </a:defRPr>
            </a:pPr>
            <a:r>
              <a:t>• Working VR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006E"/>
                </a:solidFill>
              </a:defRPr>
            </a:pPr>
            <a:r>
              <a:t>Building The Team That Will Build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</a:defRPr>
            </a:pPr>
            <a:r>
              <a:t>Matt Schaeffer</a:t>
            </a:r>
          </a:p>
          <a:p>
            <a:pPr>
              <a:spcAft>
                <a:spcPts val="1600"/>
              </a:spcAft>
              <a:defRPr sz="2400">
                <a:solidFill>
                  <a:srgbClr val="8B00FF"/>
                </a:solidFill>
              </a:defRPr>
            </a:pPr>
            <a:r>
              <a:t>Founder &amp; CEO</a:t>
            </a:r>
          </a:p>
          <a:p>
            <a:pPr>
              <a:defRPr sz="2000">
                <a:solidFill>
                  <a:srgbClr val="CCCCCC"/>
                </a:solidFill>
              </a:defRPr>
            </a:pPr>
          </a:p>
          <a:p>
            <a:pPr>
              <a:defRPr sz="2000">
                <a:solidFill>
                  <a:srgbClr val="CCCCCC"/>
                </a:solidFill>
              </a:defRPr>
            </a:pPr>
            <a:r>
              <a:t>• Conceived unified architecture</a:t>
            </a:r>
          </a:p>
          <a:p>
            <a:pPr>
              <a:defRPr sz="2000">
                <a:solidFill>
                  <a:srgbClr val="CCCCCC"/>
                </a:solidFill>
              </a:defRPr>
            </a:pPr>
            <a:r>
              <a:t>• 20+ years technical background</a:t>
            </a:r>
          </a:p>
          <a:p>
            <a:pPr>
              <a:defRPr sz="2000">
                <a:solidFill>
                  <a:srgbClr val="CCCCCC"/>
                </a:solidFill>
              </a:defRPr>
            </a:pPr>
            <a:r>
              <a:t>• Designed trust architecture</a:t>
            </a:r>
          </a:p>
          <a:p>
            <a:pPr>
              <a:defRPr sz="2000">
                <a:solidFill>
                  <a:srgbClr val="CCCCCC"/>
                </a:solidFill>
              </a:defRPr>
            </a:pPr>
            <a:r>
              <a:t>• Based in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Currently Recruiting: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spcBef>
                <a:spcPts val="1200"/>
              </a:spcBef>
              <a:defRPr sz="2400" b="1">
                <a:solidFill>
                  <a:srgbClr val="8B00FF"/>
                </a:solidFill>
              </a:defRPr>
            </a:pPr>
            <a:r>
              <a:t>CTO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Distributed systems expert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VR/spatial computing</a:t>
            </a:r>
          </a:p>
          <a:p>
            <a:pPr>
              <a:defRPr sz="1800">
                <a:solidFill>
                  <a:srgbClr val="CCCCCC"/>
                </a:solidFill>
              </a:defRPr>
            </a:pPr>
          </a:p>
          <a:p>
            <a:pPr>
              <a:spcBef>
                <a:spcPts val="1200"/>
              </a:spcBef>
              <a:defRPr sz="2400" b="1">
                <a:solidFill>
                  <a:srgbClr val="8B00FF"/>
                </a:solidFill>
              </a:defRPr>
            </a:pPr>
            <a:r>
              <a:t>Lead Engineers (3-5)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Full-stack development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Graph databases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• VR/3D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CCCCCC"/>
                </a:solidFill>
              </a:defRPr>
            </a:pPr>
            <a:r>
              <a:t>"Profit-sharing model attracts pioneers who want to build</a:t>
            </a:r>
          </a:p>
          <a:p>
            <a:r>
              <a:t>civilization-scale infrastructure"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006E"/>
                </a:solidFill>
              </a:defRPr>
            </a:pPr>
            <a:r>
              <a:t>$2M Seed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FF6B35"/>
                </a:solidFill>
              </a:defRPr>
            </a:pPr>
            <a:r>
              <a:t>Capital Allocation: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  <a:r>
              <a:t>40% Development ($800K) → World-class engineering team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  <a:r>
              <a:t>25% Infrastructure ($500K) → Systems, security, servers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  <a:r>
              <a:t>20% User Acquisition ($400K) → Kickstarter, marketing, early adopters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  <a:r>
              <a:t>10% Operations ($200K) → Legal, trust infrastructure, compliance</a:t>
            </a:r>
          </a:p>
          <a:p>
            <a:pPr>
              <a:spcAft>
                <a:spcPts val="800"/>
              </a:spcAft>
              <a:defRPr sz="2200">
                <a:solidFill>
                  <a:srgbClr val="CCCCCC"/>
                </a:solidFill>
              </a:defRPr>
            </a:pPr>
            <a:r>
              <a:t>5% Contingency ($100K)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00FF"/>
                </a:solidFill>
              </a:defRPr>
            </a:pPr>
            <a:r>
              <a:t>Terms: SAFE note, $10M cap</a:t>
            </a:r>
          </a:p>
          <a:p>
            <a:pPr>
              <a:defRPr sz="2400" b="1">
                <a:solidFill>
                  <a:srgbClr val="8B00FF"/>
                </a:solidFill>
              </a:defRPr>
            </a:pPr>
            <a:r>
              <a:t>Use: 18-month runway to 10K users + Series A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CCCCCC"/>
                </a:solidFill>
              </a:defRPr>
            </a:pPr>
            <a:r>
              <a:t>Every dollar documented for 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UNITY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HYPERNET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006E"/>
                </a:solidFill>
              </a:defRPr>
            </a:pPr>
            <a:r>
              <a:t>Join Us in Building The Singularity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CCCCCC"/>
                </a:solidFill>
              </a:defRPr>
            </a:pPr>
            <a:r>
              <a:t>"They say shoot for the stars.</a:t>
            </a:r>
          </a:p>
          <a:p>
            <a:r>
              <a:t>We're building the warp drive so everyone can reach them together."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Matt Schaeffer, Founder &amp; CEO</a:t>
            </a:r>
          </a:p>
          <a:p>
            <a:pPr algn="ctr">
              <a:defRPr sz="2400">
                <a:solidFill>
                  <a:srgbClr val="CCCCCC"/>
                </a:solidFill>
              </a:defRPr>
            </a:pPr>
            <a:r>
              <a:t>Hypernet</a:t>
            </a:r>
          </a:p>
          <a:p>
            <a:pPr algn="ctr">
              <a:defRPr sz="2200">
                <a:solidFill>
                  <a:srgbClr val="FF006E"/>
                </a:solidFill>
              </a:defRPr>
            </a:pPr>
          </a:p>
          <a:p>
            <a:pPr algn="ctr">
              <a:defRPr sz="2200">
                <a:solidFill>
                  <a:srgbClr val="FF006E"/>
                </a:solidFill>
              </a:defRPr>
            </a:pPr>
            <a:r>
              <a:t>matt@hypernet.com | (702) XXX-XXXX</a:t>
            </a:r>
          </a:p>
          <a:p>
            <a:pPr algn="ctr">
              <a:defRPr sz="2200">
                <a:solidFill>
                  <a:srgbClr val="FF006E"/>
                </a:solidFill>
              </a:defRPr>
            </a:pPr>
            <a:r>
              <a:t>www.hypernet.com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88888"/>
                </a:solidFill>
              </a:defRPr>
            </a:pPr>
            <a:r>
              <a:t>StartUpNV.org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35"/>
                </a:solidFill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4747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B35"/>
                </a:solidFill>
              </a:defRPr>
            </a:pPr>
            <a:r>
              <a:t>UNITY HYPERNET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8888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