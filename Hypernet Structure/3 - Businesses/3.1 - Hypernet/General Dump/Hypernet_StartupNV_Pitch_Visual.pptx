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jO5fhYnrT+z8mjXaHlOuIy6D+pB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8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1371600" y="301752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The Singularity: Unified Infrastructure Eliminating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90% of Global Data Duplication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1371600" y="4389120"/>
            <a:ext cx="91440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Matt Schaeffer, Founder &amp; CEO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Las Vegas, Nevada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200" u="none" cap="none" strike="noStrike">
              <a:solidFill>
                <a:srgbClr val="6C757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matt@unityhypernet.com | (402) 238-1334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90" name="Google Shape;90;p1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AF0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8046720" y="1280160"/>
            <a:ext cx="3657600" cy="429768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254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/>
          <p:nvPr/>
        </p:nvSpPr>
        <p:spPr>
          <a:xfrm>
            <a:off x="4206240" y="1280160"/>
            <a:ext cx="3657600" cy="429768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254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2"/>
          <p:cNvSpPr/>
          <p:nvPr/>
        </p:nvSpPr>
        <p:spPr>
          <a:xfrm>
            <a:off x="365760" y="1280160"/>
            <a:ext cx="3657600" cy="429768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254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2962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>
            <a:off x="12008815" y="0"/>
            <a:ext cx="182880" cy="6858000"/>
          </a:xfrm>
          <a:prstGeom prst="rect">
            <a:avLst/>
          </a:prstGeom>
          <a:solidFill>
            <a:srgbClr val="DC35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Global Data Chaos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457200" y="1371600"/>
            <a:ext cx="3474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Problem 1: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Massive Duplication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90% of global data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is duplicated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Trillions wasted 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redundant storage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4297680" y="1371600"/>
            <a:ext cx="3474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Problem 2: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Fragmentation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27 apps per person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daily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No single source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of truth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Can't build The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Singularity</a:t>
            </a:r>
            <a:endParaRPr/>
          </a:p>
        </p:txBody>
      </p:sp>
      <p:sp>
        <p:nvSpPr>
          <p:cNvPr id="103" name="Google Shape;103;p2"/>
          <p:cNvSpPr txBox="1"/>
          <p:nvPr/>
        </p:nvSpPr>
        <p:spPr>
          <a:xfrm>
            <a:off x="8138160" y="1371600"/>
            <a:ext cx="347472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Problem 3: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Trust Destroyed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0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Platforms exploit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users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Privacy constantly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violated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Fake news spreads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uncontrollably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AFF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3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Three Components. Infinite Unity.</a:t>
            </a:r>
            <a:endParaRPr/>
          </a:p>
        </p:txBody>
      </p:sp>
      <p:sp>
        <p:nvSpPr>
          <p:cNvPr id="113" name="Google Shape;113;p3"/>
          <p:cNvSpPr/>
          <p:nvPr/>
        </p:nvSpPr>
        <p:spPr>
          <a:xfrm>
            <a:off x="365760" y="1280160"/>
            <a:ext cx="3657600" cy="338328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3"/>
          <p:cNvSpPr txBox="1"/>
          <p:nvPr/>
        </p:nvSpPr>
        <p:spPr>
          <a:xfrm>
            <a:off x="593075" y="1464092"/>
            <a:ext cx="2995500" cy="30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Solution 1: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The Library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Universal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addressing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system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Each piece has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ONE permanent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location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Eliminates duplication</a:t>
            </a:r>
            <a:endParaRPr/>
          </a:p>
        </p:txBody>
      </p:sp>
      <p:sp>
        <p:nvSpPr>
          <p:cNvPr id="115" name="Google Shape;115;p3"/>
          <p:cNvSpPr/>
          <p:nvPr/>
        </p:nvSpPr>
        <p:spPr>
          <a:xfrm>
            <a:off x="4206240" y="1280160"/>
            <a:ext cx="3657600" cy="338328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/>
        </p:nvSpPr>
        <p:spPr>
          <a:xfrm>
            <a:off x="4480550" y="1554475"/>
            <a:ext cx="31089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Solution 2: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Objects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296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Standardized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containers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People, devices,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knowledge use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same format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Universal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interoperability</a:t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8046720" y="1280160"/>
            <a:ext cx="3657600" cy="3383280"/>
          </a:xfrm>
          <a:prstGeom prst="roundRect">
            <a:avLst>
              <a:gd fmla="val 16667" name="adj"/>
            </a:avLst>
          </a:prstGeom>
          <a:solidFill>
            <a:srgbClr val="F0F8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8321050" y="1554475"/>
            <a:ext cx="3108900" cy="31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Solution 3:</a:t>
            </a:r>
            <a:endParaRPr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Links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b="1" i="0" sz="1700" u="none" cap="none" strike="noStrike">
              <a:solidFill>
                <a:srgbClr val="296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Relationships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create meaning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Connections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produce emergent</a:t>
            </a:r>
            <a:r>
              <a:rPr lang="en-US"/>
              <a:t> </a:t>
            </a: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intelligence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The Singularity itself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914400" y="4846295"/>
            <a:ext cx="1005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Same data, reused infinitely = Zero duplication</a:t>
            </a:r>
            <a:endParaRPr/>
          </a:p>
        </p:txBody>
      </p:sp>
      <p:sp>
        <p:nvSpPr>
          <p:cNvPr id="120" name="Google Shape;120;p3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FF5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00" u="none" cap="none" strike="noStrike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Experience The Singularity</a:t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365760" y="1280160"/>
            <a:ext cx="3657600" cy="3108960"/>
          </a:xfrm>
          <a:prstGeom prst="roundRect">
            <a:avLst>
              <a:gd fmla="val 16667" name="adj"/>
            </a:avLst>
          </a:prstGeom>
          <a:solidFill>
            <a:srgbClr val="F5FFF8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/>
        </p:nvSpPr>
        <p:spPr>
          <a:xfrm>
            <a:off x="457200" y="137160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Personal Value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DC3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Organize entire digital life once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Walk through memories in VR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Control your own data completely</a:t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4206240" y="1280160"/>
            <a:ext cx="3657600" cy="3108960"/>
          </a:xfrm>
          <a:prstGeom prst="roundRect">
            <a:avLst>
              <a:gd fmla="val 16667" name="adj"/>
            </a:avLst>
          </a:prstGeom>
          <a:solidFill>
            <a:srgbClr val="F5FFF8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4"/>
          <p:cNvSpPr txBox="1"/>
          <p:nvPr/>
        </p:nvSpPr>
        <p:spPr>
          <a:xfrm>
            <a:off x="4297680" y="137160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Collaboration Tools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DC3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Real-time global knowledge sharing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Supply chain transparency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Democratic truth-finding</a:t>
            </a:r>
            <a:endParaRPr/>
          </a:p>
        </p:txBody>
      </p:sp>
      <p:sp>
        <p:nvSpPr>
          <p:cNvPr id="133" name="Google Shape;133;p4"/>
          <p:cNvSpPr/>
          <p:nvPr/>
        </p:nvSpPr>
        <p:spPr>
          <a:xfrm>
            <a:off x="8046720" y="1280160"/>
            <a:ext cx="3657600" cy="3108960"/>
          </a:xfrm>
          <a:prstGeom prst="roundRect">
            <a:avLst>
              <a:gd fmla="val 16667" name="adj"/>
            </a:avLst>
          </a:prstGeom>
          <a:solidFill>
            <a:srgbClr val="F5FFF8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 txBox="1"/>
          <p:nvPr/>
        </p:nvSpPr>
        <p:spPr>
          <a:xfrm>
            <a:off x="8138160" y="1371600"/>
            <a:ext cx="347472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VR-Native Infrastructure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2200" u="none" cap="none" strike="noStrike">
              <a:solidFill>
                <a:srgbClr val="DC3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Every object exists in 3D space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Navigate relationships spatially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First spatial computing OS</a:t>
            </a:r>
            <a:endParaRPr/>
          </a:p>
        </p:txBody>
      </p:sp>
      <p:sp>
        <p:nvSpPr>
          <p:cNvPr id="135" name="Google Shape;135;p4"/>
          <p:cNvSpPr txBox="1"/>
          <p:nvPr/>
        </p:nvSpPr>
        <p:spPr>
          <a:xfrm>
            <a:off x="914400" y="4754880"/>
            <a:ext cx="100584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"Imagine walking through all human knowledge as an explorable 3D world.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That's The Singularity."</a:t>
            </a:r>
            <a:endParaRPr/>
          </a:p>
        </p:txBody>
      </p:sp>
      <p:sp>
        <p:nvSpPr>
          <p:cNvPr id="136" name="Google Shape;136;p4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137" name="Google Shape;137;p4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Infrastructure for All Human Activity</a:t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1280160" y="1554480"/>
            <a:ext cx="9326880" cy="914400"/>
          </a:xfrm>
          <a:prstGeom prst="roundRect">
            <a:avLst>
              <a:gd fmla="val 16667" name="adj"/>
            </a:avLst>
          </a:prstGeom>
          <a:solidFill>
            <a:srgbClr val="FFF0F0"/>
          </a:solidFill>
          <a:ln cap="flat" cmpd="sng" w="254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/>
        </p:nvSpPr>
        <p:spPr>
          <a:xfrm>
            <a:off x="1371600" y="164592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TAM (Total Addressable Market): $15 Trillion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Global digital infrastructure market</a:t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1280160" y="2651760"/>
            <a:ext cx="9326880" cy="914400"/>
          </a:xfrm>
          <a:prstGeom prst="roundRect">
            <a:avLst>
              <a:gd fmla="val 16667" name="adj"/>
            </a:avLst>
          </a:prstGeom>
          <a:solidFill>
            <a:srgbClr val="F5F5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 txBox="1"/>
          <p:nvPr/>
        </p:nvSpPr>
        <p:spPr>
          <a:xfrm>
            <a:off x="1371600" y="274320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SAM (Serviceable Addressable Market): $3.2 Trillion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Unified data infrastructure, enterprise cloud migration, VR platforms</a:t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1280160" y="3749039"/>
            <a:ext cx="9326880" cy="914400"/>
          </a:xfrm>
          <a:prstGeom prst="roundRect">
            <a:avLst>
              <a:gd fmla="val 16667" name="adj"/>
            </a:avLst>
          </a:prstGeom>
          <a:solidFill>
            <a:srgbClr val="F5FFF5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 txBox="1"/>
          <p:nvPr/>
        </p:nvSpPr>
        <p:spPr>
          <a:xfrm>
            <a:off x="1371600" y="3840480"/>
            <a:ext cx="91440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SOM (Serviceable Obtainable Market): $180 Billion in 5 years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Early adopters, VR users, enterprise integration, developer ecosystem</a:t>
            </a:r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914400" y="512064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When you're infrastructure for civilization, the market is civilization itself</a:t>
            </a:r>
            <a:endParaRPr/>
          </a:p>
        </p:txBody>
      </p:sp>
      <p:sp>
        <p:nvSpPr>
          <p:cNvPr id="152" name="Google Shape;152;p5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*Sources: IDC Digital Infrastructure Report 2024, Gartner Cloud Services Forecast</a:t>
            </a:r>
            <a:endParaRPr/>
          </a:p>
        </p:txBody>
      </p:sp>
      <p:sp>
        <p:nvSpPr>
          <p:cNvPr id="153" name="Google Shape;153;p5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154" name="Google Shape;154;p5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AF0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They Can't Build What We're Building</a:t>
            </a: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822960" y="1371600"/>
            <a:ext cx="10698480" cy="42976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/>
        </p:nvSpPr>
        <p:spPr>
          <a:xfrm>
            <a:off x="1051560" y="1645920"/>
            <a:ext cx="10241280" cy="37490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     Hypernet    Google    Meta    Microsoft    Amazon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Zero Duplication            ✓          ✗        ✗         ✗          ✗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User-Controlled Data        ✓          ✗        ✗         △          ✗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VR-Native                   ✓          △        △         △          ✗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Open Source                 ✓          ✗        ✗         △          ✗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Democratic Governance       ✓          ✗        ✗         ✗          ✗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1900">
                <a:solidFill>
                  <a:srgbClr val="212529"/>
                </a:solidFill>
                <a:latin typeface="Courier New"/>
                <a:ea typeface="Courier New"/>
                <a:cs typeface="Courier New"/>
                <a:sym typeface="Courier New"/>
              </a:rPr>
              <a:t>Trusted                     ✓          ✗        ✗         △          △</a:t>
            </a:r>
            <a:endParaRPr/>
          </a:p>
        </p:txBody>
      </p:sp>
      <p:sp>
        <p:nvSpPr>
          <p:cNvPr id="164" name="Google Shape;164;p6"/>
          <p:cNvSpPr txBox="1"/>
          <p:nvPr/>
        </p:nvSpPr>
        <p:spPr>
          <a:xfrm>
            <a:off x="914400" y="557784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They become partners, not competitors—we make their infrastructure more valuable</a:t>
            </a:r>
            <a:endParaRPr/>
          </a:p>
        </p:txBody>
      </p:sp>
      <p:sp>
        <p:nvSpPr>
          <p:cNvPr id="165" name="Google Shape;165;p6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166" name="Google Shape;166;p6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AF0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7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7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7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The 1% Revolution</a:t>
            </a:r>
            <a:endParaRPr/>
          </a:p>
        </p:txBody>
      </p:sp>
      <p:sp>
        <p:nvSpPr>
          <p:cNvPr id="174" name="Google Shape;174;p7"/>
          <p:cNvSpPr/>
          <p:nvPr/>
        </p:nvSpPr>
        <p:spPr>
          <a:xfrm>
            <a:off x="640080" y="1280160"/>
            <a:ext cx="10789920" cy="1645920"/>
          </a:xfrm>
          <a:prstGeom prst="roundRect">
            <a:avLst>
              <a:gd fmla="val 16667" name="adj"/>
            </a:avLst>
          </a:prstGeom>
          <a:solidFill>
            <a:srgbClr val="FFFAF5"/>
          </a:solidFill>
          <a:ln cap="flat" cmpd="sng" w="254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7"/>
          <p:cNvSpPr txBox="1"/>
          <p:nvPr/>
        </p:nvSpPr>
        <p:spPr>
          <a:xfrm>
            <a:off x="731520" y="137160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Revenue Model: 1% microtransaction on all platform activity (vs. credit cards' 3%)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Every developer integration: 1%   • Every transaction: 1%   • Plus: Premium services, enterprise tiers</a:t>
            </a:r>
            <a:endParaRPr/>
          </a:p>
        </p:txBody>
      </p:sp>
      <p:sp>
        <p:nvSpPr>
          <p:cNvPr id="176" name="Google Shape;176;p7"/>
          <p:cNvSpPr/>
          <p:nvPr/>
        </p:nvSpPr>
        <p:spPr>
          <a:xfrm>
            <a:off x="640080" y="3017520"/>
            <a:ext cx="10789920" cy="2194560"/>
          </a:xfrm>
          <a:prstGeom prst="roundRect">
            <a:avLst>
              <a:gd fmla="val 16667" name="adj"/>
            </a:avLst>
          </a:prstGeom>
          <a:solidFill>
            <a:srgbClr val="F5FA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7"/>
          <p:cNvSpPr txBox="1"/>
          <p:nvPr/>
        </p:nvSpPr>
        <p:spPr>
          <a:xfrm>
            <a:off x="731520" y="3108960"/>
            <a:ext cx="105156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Profit Distribution (after operating costs):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rgbClr val="DC3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33% → Traditional Investment Returns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33% → Contributors &amp; Workers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33% → Unity Foundation (Ending Poverty)</a:t>
            </a:r>
            <a:endParaRPr/>
          </a:p>
        </p:txBody>
      </p:sp>
      <p:sp>
        <p:nvSpPr>
          <p:cNvPr id="178" name="Google Shape;178;p7"/>
          <p:cNvSpPr txBox="1"/>
          <p:nvPr/>
        </p:nvSpPr>
        <p:spPr>
          <a:xfrm>
            <a:off x="914400" y="54864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Aligned with humanity, not extracting from it</a:t>
            </a:r>
            <a:endParaRPr/>
          </a:p>
        </p:txBody>
      </p:sp>
      <p:sp>
        <p:nvSpPr>
          <p:cNvPr id="179" name="Google Shape;179;p7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180" name="Google Shape;180;p7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AFF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8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8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Gradual Adoption, Then Network Effects</a:t>
            </a:r>
            <a:endParaRPr/>
          </a:p>
        </p:txBody>
      </p:sp>
      <p:sp>
        <p:nvSpPr>
          <p:cNvPr id="188" name="Google Shape;188;p8"/>
          <p:cNvSpPr/>
          <p:nvPr/>
        </p:nvSpPr>
        <p:spPr>
          <a:xfrm>
            <a:off x="365760" y="1280160"/>
            <a:ext cx="3657600" cy="3657600"/>
          </a:xfrm>
          <a:prstGeom prst="roundRect">
            <a:avLst>
              <a:gd fmla="val 16667" name="adj"/>
            </a:avLst>
          </a:prstGeom>
          <a:solidFill>
            <a:srgbClr val="FFF5F5"/>
          </a:solidFill>
          <a:ln cap="flat" cmpd="sng" w="381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8"/>
          <p:cNvSpPr txBox="1"/>
          <p:nvPr/>
        </p:nvSpPr>
        <p:spPr>
          <a:xfrm>
            <a:off x="457200" y="1371600"/>
            <a:ext cx="3474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Phase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Months 1-18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96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Kickstarter campaign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Direct sales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VR communities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→ 10,000 pioneers</a:t>
            </a:r>
            <a:endParaRPr/>
          </a:p>
        </p:txBody>
      </p:sp>
      <p:sp>
        <p:nvSpPr>
          <p:cNvPr id="190" name="Google Shape;190;p8"/>
          <p:cNvSpPr/>
          <p:nvPr/>
        </p:nvSpPr>
        <p:spPr>
          <a:xfrm>
            <a:off x="4206240" y="1280160"/>
            <a:ext cx="3657600" cy="3657600"/>
          </a:xfrm>
          <a:prstGeom prst="roundRect">
            <a:avLst>
              <a:gd fmla="val 16667" name="adj"/>
            </a:avLst>
          </a:prstGeom>
          <a:solidFill>
            <a:srgbClr val="F5F5FF"/>
          </a:solidFill>
          <a:ln cap="flat" cmpd="sng" w="381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8"/>
          <p:cNvSpPr txBox="1"/>
          <p:nvPr/>
        </p:nvSpPr>
        <p:spPr>
          <a:xfrm>
            <a:off x="4297680" y="1371600"/>
            <a:ext cx="3474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Phase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Months 18-36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96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Cloud partnerships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Industry conferences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Developer ecosystem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→ 1M users</a:t>
            </a:r>
            <a:endParaRPr/>
          </a:p>
        </p:txBody>
      </p:sp>
      <p:sp>
        <p:nvSpPr>
          <p:cNvPr id="192" name="Google Shape;192;p8"/>
          <p:cNvSpPr/>
          <p:nvPr/>
        </p:nvSpPr>
        <p:spPr>
          <a:xfrm>
            <a:off x="8046720" y="1280160"/>
            <a:ext cx="3657600" cy="3657600"/>
          </a:xfrm>
          <a:prstGeom prst="roundRect">
            <a:avLst>
              <a:gd fmla="val 16667" name="adj"/>
            </a:avLst>
          </a:prstGeom>
          <a:solidFill>
            <a:srgbClr val="F5FFF5"/>
          </a:solidFill>
          <a:ln cap="flat" cmpd="sng" w="381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8"/>
          <p:cNvSpPr txBox="1"/>
          <p:nvPr/>
        </p:nvSpPr>
        <p:spPr>
          <a:xfrm>
            <a:off x="8138160" y="1371600"/>
            <a:ext cx="3474720" cy="3474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Phase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Years 3-5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96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Global dev ecosystem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Network effects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Enterprise adoption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→ 100M+ users</a:t>
            </a:r>
            <a:endParaRPr/>
          </a:p>
        </p:txBody>
      </p:sp>
      <p:sp>
        <p:nvSpPr>
          <p:cNvPr id="194" name="Google Shape;194;p8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195" name="Google Shape;195;p8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9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From Vision to Reality</a:t>
            </a:r>
            <a:endParaRPr/>
          </a:p>
        </p:txBody>
      </p:sp>
      <p:sp>
        <p:nvSpPr>
          <p:cNvPr id="203" name="Google Shape;203;p9"/>
          <p:cNvSpPr/>
          <p:nvPr/>
        </p:nvSpPr>
        <p:spPr>
          <a:xfrm>
            <a:off x="457200" y="1371600"/>
            <a:ext cx="3474720" cy="4389120"/>
          </a:xfrm>
          <a:prstGeom prst="roundRect">
            <a:avLst>
              <a:gd fmla="val 16667" name="adj"/>
            </a:avLst>
          </a:prstGeom>
          <a:solidFill>
            <a:srgbClr val="F5FFF8"/>
          </a:solidFill>
          <a:ln cap="flat" cmpd="sng" w="25400">
            <a:solidFill>
              <a:srgbClr val="28A7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 txBox="1"/>
          <p:nvPr/>
        </p:nvSpPr>
        <p:spPr>
          <a:xfrm>
            <a:off x="685800" y="1600200"/>
            <a:ext cx="30175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Completed: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✓ Core architecture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 framework designed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✓ Technical specs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 documented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✓ Trust &amp; governance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 model developed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✓ Business model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 validated</a:t>
            </a:r>
            <a:endParaRPr/>
          </a:p>
        </p:txBody>
      </p:sp>
      <p:sp>
        <p:nvSpPr>
          <p:cNvPr id="205" name="Google Shape;205;p9"/>
          <p:cNvSpPr/>
          <p:nvPr/>
        </p:nvSpPr>
        <p:spPr>
          <a:xfrm>
            <a:off x="4297680" y="1371600"/>
            <a:ext cx="3474720" cy="4389120"/>
          </a:xfrm>
          <a:prstGeom prst="roundRect">
            <a:avLst>
              <a:gd fmla="val 16667" name="adj"/>
            </a:avLst>
          </a:prstGeom>
          <a:solidFill>
            <a:srgbClr val="FFFAF0"/>
          </a:solidFill>
          <a:ln cap="flat" cmpd="sng" w="25400">
            <a:solidFill>
              <a:srgbClr val="FFC10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 txBox="1"/>
          <p:nvPr/>
        </p:nvSpPr>
        <p:spPr>
          <a:xfrm>
            <a:off x="4526280" y="1600200"/>
            <a:ext cx="30175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Current Stage: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Assembling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founding team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Securing seed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funding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Preparing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Kickstarter launch</a:t>
            </a:r>
            <a:endParaRPr/>
          </a:p>
        </p:txBody>
      </p:sp>
      <p:sp>
        <p:nvSpPr>
          <p:cNvPr id="207" name="Google Shape;207;p9"/>
          <p:cNvSpPr/>
          <p:nvPr/>
        </p:nvSpPr>
        <p:spPr>
          <a:xfrm>
            <a:off x="8138160" y="1371600"/>
            <a:ext cx="3474720" cy="4389120"/>
          </a:xfrm>
          <a:prstGeom prst="roundRect">
            <a:avLst>
              <a:gd fmla="val 16667" name="adj"/>
            </a:avLst>
          </a:prstGeom>
          <a:solidFill>
            <a:srgbClr val="F0F5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 txBox="1"/>
          <p:nvPr/>
        </p:nvSpPr>
        <p:spPr>
          <a:xfrm>
            <a:off x="8366760" y="1600200"/>
            <a:ext cx="3017520" cy="3931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18-Month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Projections: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10,000 early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adopters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$2M ARR from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premium tiers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50+ developers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building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Working VR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  prototype</a:t>
            </a:r>
            <a:endParaRPr/>
          </a:p>
        </p:txBody>
      </p:sp>
      <p:sp>
        <p:nvSpPr>
          <p:cNvPr id="209" name="Google Shape;209;p9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210" name="Google Shape;210;p9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FFAF0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"/>
          <p:cNvSpPr/>
          <p:nvPr/>
        </p:nvSpPr>
        <p:spPr>
          <a:xfrm>
            <a:off x="915965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-89875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381410" y="320040"/>
            <a:ext cx="11430000" cy="7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3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Building The Team That Will Build The Singularity</a:t>
            </a:r>
            <a:endParaRPr sz="1100"/>
          </a:p>
        </p:txBody>
      </p:sp>
      <p:sp>
        <p:nvSpPr>
          <p:cNvPr id="218" name="Google Shape;218;p10"/>
          <p:cNvSpPr/>
          <p:nvPr/>
        </p:nvSpPr>
        <p:spPr>
          <a:xfrm>
            <a:off x="655717" y="1499510"/>
            <a:ext cx="5212200" cy="3657600"/>
          </a:xfrm>
          <a:prstGeom prst="roundRect">
            <a:avLst>
              <a:gd fmla="val 16667" name="adj"/>
            </a:avLst>
          </a:prstGeom>
          <a:solidFill>
            <a:srgbClr val="FFFAF5"/>
          </a:solidFill>
          <a:ln cap="flat" cmpd="sng" w="25400">
            <a:solidFill>
              <a:srgbClr val="DC3545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 txBox="1"/>
          <p:nvPr/>
        </p:nvSpPr>
        <p:spPr>
          <a:xfrm>
            <a:off x="747158" y="1763025"/>
            <a:ext cx="50292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0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Matt Schaeffer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Founder &amp; CEO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rgbClr val="2962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Conceived unified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20+ years technical background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Designed trust architecture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Based in Las Vegas</a:t>
            </a:r>
            <a:endParaRPr/>
          </a:p>
        </p:txBody>
      </p:sp>
      <p:sp>
        <p:nvSpPr>
          <p:cNvPr id="220" name="Google Shape;220;p10"/>
          <p:cNvSpPr/>
          <p:nvPr/>
        </p:nvSpPr>
        <p:spPr>
          <a:xfrm>
            <a:off x="6142130" y="1510860"/>
            <a:ext cx="5212200" cy="3657600"/>
          </a:xfrm>
          <a:prstGeom prst="roundRect">
            <a:avLst>
              <a:gd fmla="val 16667" name="adj"/>
            </a:avLst>
          </a:prstGeom>
          <a:solidFill>
            <a:srgbClr val="F5FA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6233620" y="1730700"/>
            <a:ext cx="5029200" cy="33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Currently Recruiting: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DC3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CTO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Distributed systems expert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VR/spatial computing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Lead Engineers (3-5)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Full-stack development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Graph databases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• VR/3D interfaces</a:t>
            </a:r>
            <a:endParaRPr/>
          </a:p>
        </p:txBody>
      </p:sp>
      <p:sp>
        <p:nvSpPr>
          <p:cNvPr id="222" name="Google Shape;222;p10"/>
          <p:cNvSpPr txBox="1"/>
          <p:nvPr/>
        </p:nvSpPr>
        <p:spPr>
          <a:xfrm>
            <a:off x="930050" y="5605055"/>
            <a:ext cx="10058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"Profit-sharing model attracts pioneers who want to build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civilization-scale infrastructure"</a:t>
            </a:r>
            <a:endParaRPr/>
          </a:p>
        </p:txBody>
      </p:sp>
      <p:sp>
        <p:nvSpPr>
          <p:cNvPr id="223" name="Google Shape;223;p10"/>
          <p:cNvSpPr txBox="1"/>
          <p:nvPr/>
        </p:nvSpPr>
        <p:spPr>
          <a:xfrm>
            <a:off x="10531250" y="6309360"/>
            <a:ext cx="1371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224" name="Google Shape;224;p10"/>
          <p:cNvSpPr txBox="1"/>
          <p:nvPr/>
        </p:nvSpPr>
        <p:spPr>
          <a:xfrm>
            <a:off x="472850" y="6400800"/>
            <a:ext cx="4572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AFF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1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1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$2M Seed Round</a:t>
            </a:r>
            <a:endParaRPr/>
          </a:p>
        </p:txBody>
      </p:sp>
      <p:sp>
        <p:nvSpPr>
          <p:cNvPr id="232" name="Google Shape;232;p11"/>
          <p:cNvSpPr/>
          <p:nvPr/>
        </p:nvSpPr>
        <p:spPr>
          <a:xfrm>
            <a:off x="640080" y="1280160"/>
            <a:ext cx="10789920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2962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1"/>
          <p:cNvSpPr txBox="1"/>
          <p:nvPr/>
        </p:nvSpPr>
        <p:spPr>
          <a:xfrm>
            <a:off x="731520" y="1371600"/>
            <a:ext cx="10515600" cy="2926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Capital Allocation: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rgbClr val="DC354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40% Development ($800K) → World-class engineering team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25% Infrastructure ($500K) → Systems, security, servers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20% User Acquisition ($400K) → Kickstarter, marketing, early adopters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10% Operations ($200K) → Legal, trust infrastructure, compliance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5% Contingency ($100K)</a:t>
            </a:r>
            <a:endParaRPr/>
          </a:p>
        </p:txBody>
      </p:sp>
      <p:sp>
        <p:nvSpPr>
          <p:cNvPr id="234" name="Google Shape;234;p11"/>
          <p:cNvSpPr txBox="1"/>
          <p:nvPr/>
        </p:nvSpPr>
        <p:spPr>
          <a:xfrm>
            <a:off x="731520" y="4572000"/>
            <a:ext cx="10515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Terms: SAFE note, $10M cap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Use: 18-month runway to 10K users + Series A readiness</a:t>
            </a:r>
            <a:endParaRPr/>
          </a:p>
        </p:txBody>
      </p:sp>
      <p:sp>
        <p:nvSpPr>
          <p:cNvPr id="235" name="Google Shape;235;p11"/>
          <p:cNvSpPr txBox="1"/>
          <p:nvPr/>
        </p:nvSpPr>
        <p:spPr>
          <a:xfrm>
            <a:off x="91440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9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Every dollar documented for transparency</a:t>
            </a:r>
            <a:endParaRPr/>
          </a:p>
        </p:txBody>
      </p:sp>
      <p:sp>
        <p:nvSpPr>
          <p:cNvPr id="236" name="Google Shape;236;p11"/>
          <p:cNvSpPr txBox="1"/>
          <p:nvPr/>
        </p:nvSpPr>
        <p:spPr>
          <a:xfrm>
            <a:off x="10515600" y="6309360"/>
            <a:ext cx="1371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UNITY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HYPERNET</a:t>
            </a:r>
            <a:endParaRPr/>
          </a:p>
        </p:txBody>
      </p:sp>
      <p:sp>
        <p:nvSpPr>
          <p:cNvPr id="237" name="Google Shape;237;p11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F0F4FF"/>
            </a:gs>
            <a:gs pos="100000">
              <a:srgbClr val="FFFFFF"/>
            </a:gs>
          </a:gsLst>
          <a:lin ang="18900000" scaled="0"/>
        </a:gradFill>
      </p:bgPr>
    </p:bg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CE6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/>
          <p:nvPr/>
        </p:nvSpPr>
        <p:spPr>
          <a:xfrm>
            <a:off x="-914400" y="4572000"/>
            <a:ext cx="2743200" cy="2743200"/>
          </a:xfrm>
          <a:prstGeom prst="ellipse">
            <a:avLst/>
          </a:prstGeom>
          <a:solidFill>
            <a:srgbClr val="FFE6F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 txBox="1"/>
          <p:nvPr/>
        </p:nvSpPr>
        <p:spPr>
          <a:xfrm>
            <a:off x="1371600" y="1371600"/>
            <a:ext cx="91440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Join Us in Building The Singularity</a:t>
            </a:r>
            <a:endParaRPr/>
          </a:p>
        </p:txBody>
      </p:sp>
      <p:sp>
        <p:nvSpPr>
          <p:cNvPr id="245" name="Google Shape;245;p12"/>
          <p:cNvSpPr txBox="1"/>
          <p:nvPr/>
        </p:nvSpPr>
        <p:spPr>
          <a:xfrm>
            <a:off x="1371600" y="2377440"/>
            <a:ext cx="91440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6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"They say shoot for the stars.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We're building the warp drive so everyone can reach them together."</a:t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1371600" y="365760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Matt Schaeffer, Founder &amp; CEO</a:t>
            </a:r>
            <a:endParaRPr/>
          </a:p>
        </p:txBody>
      </p:sp>
      <p:sp>
        <p:nvSpPr>
          <p:cNvPr id="247" name="Google Shape;247;p12"/>
          <p:cNvSpPr txBox="1"/>
          <p:nvPr/>
        </p:nvSpPr>
        <p:spPr>
          <a:xfrm>
            <a:off x="1371600" y="42062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matt@unityhypernet.com</a:t>
            </a:r>
            <a:endParaRPr/>
          </a:p>
        </p:txBody>
      </p:sp>
      <p:sp>
        <p:nvSpPr>
          <p:cNvPr id="248" name="Google Shape;248;p12"/>
          <p:cNvSpPr txBox="1"/>
          <p:nvPr/>
        </p:nvSpPr>
        <p:spPr>
          <a:xfrm>
            <a:off x="1371600" y="461772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2962FF"/>
                </a:solidFill>
                <a:latin typeface="Calibri"/>
                <a:ea typeface="Calibri"/>
                <a:cs typeface="Calibri"/>
                <a:sym typeface="Calibri"/>
              </a:rPr>
              <a:t>(402) 238-1334</a:t>
            </a:r>
            <a:endParaRPr/>
          </a:p>
        </p:txBody>
      </p:sp>
      <p:sp>
        <p:nvSpPr>
          <p:cNvPr id="249" name="Google Shape;249;p12"/>
          <p:cNvSpPr txBox="1"/>
          <p:nvPr/>
        </p:nvSpPr>
        <p:spPr>
          <a:xfrm>
            <a:off x="1371600" y="51206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www.hypernet.com</a:t>
            </a:r>
            <a:endParaRPr/>
          </a:p>
        </p:txBody>
      </p:sp>
      <p:sp>
        <p:nvSpPr>
          <p:cNvPr id="250" name="Google Shape;250;p12"/>
          <p:cNvSpPr txBox="1"/>
          <p:nvPr/>
        </p:nvSpPr>
        <p:spPr>
          <a:xfrm>
            <a:off x="1371600" y="55778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StartUpNV.org</a:t>
            </a:r>
            <a:endParaRPr/>
          </a:p>
        </p:txBody>
      </p:sp>
      <p:sp>
        <p:nvSpPr>
          <p:cNvPr id="251" name="Google Shape;251;p12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DC3545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/>
          </a:p>
        </p:txBody>
      </p:sp>
      <p:sp>
        <p:nvSpPr>
          <p:cNvPr id="252" name="Google Shape;252;p12"/>
          <p:cNvSpPr txBox="1"/>
          <p:nvPr/>
        </p:nvSpPr>
        <p:spPr>
          <a:xfrm>
            <a:off x="457200" y="640080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rgbClr val="6C757D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